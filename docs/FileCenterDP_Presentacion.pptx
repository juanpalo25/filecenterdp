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59775" y="777240"/>
            <a:ext cx="2377440" cy="2377440"/>
          </a:xfrm>
          <a:prstGeom prst="ellipse">
            <a:avLst/>
          </a:prstGeom>
          <a:solidFill>
            <a:srgbClr val="2B3A7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0361" y="1347826"/>
            <a:ext cx="1236269" cy="12362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46888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FileCenterDP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22960" y="342900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Centralizando la gestión de solicitudes comerciales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39776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 de Compra · Órdenes de Reposición · Cambios de Precio · Fichas de Producto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Comercial  ·  Presentación de la plataforma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hoy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solicitudes comerciales (Órdenes de Compra, Reposición, Cambios de Precio y Fichas de Producto) se coordinan hoy por WhatsApp entre analistas y asistentes.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1094415" cy="1143000"/>
          </a:xfrm>
          <a:prstGeom prst="roundRect">
            <a:avLst>
              <a:gd name="adj" fmla="val 9600"/>
            </a:avLst>
          </a:prstGeom>
          <a:solidFill>
            <a:srgbClr val="EAF2F6"/>
          </a:solidFill>
          <a:ln/>
          <a:effectLst>
            <a:outerShdw sx="100000" sy="100000" kx="0" ky="0" algn="bl" rotWithShape="0" blurRad="101600" dist="38100" dir="5400000">
              <a:srgbClr val="1B2A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404872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5584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31343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por WhatsApp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83080" y="267919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y pedidos se comparten sueltos, sin un lugar único de referencia.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520440"/>
            <a:ext cx="11094415" cy="1143000"/>
          </a:xfrm>
          <a:prstGeom prst="roundRect">
            <a:avLst>
              <a:gd name="adj" fmla="val 9600"/>
            </a:avLst>
          </a:prstGeom>
          <a:solidFill>
            <a:srgbClr val="EAF2F6"/>
          </a:solidFill>
          <a:ln/>
          <a:effectLst>
            <a:outerShdw sx="100000" sy="100000" kx="0" ky="0" algn="bl" rotWithShape="0" blurRad="101600" dist="38100" dir="5400000">
              <a:srgbClr val="1B2A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776472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99" y="39300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68503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visibilidad del estado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783080" y="405079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forma simple de saber qué solicitud está pendiente, emitida o aplicada.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892040"/>
            <a:ext cx="11094415" cy="1143000"/>
          </a:xfrm>
          <a:prstGeom prst="roundRect">
            <a:avLst>
              <a:gd name="adj" fmla="val 9600"/>
            </a:avLst>
          </a:prstGeom>
          <a:solidFill>
            <a:srgbClr val="EAF2F6"/>
          </a:solidFill>
          <a:ln/>
          <a:effectLst>
            <a:outerShdw sx="100000" sy="100000" kx="0" ky="0" algn="bl" rotWithShape="0" blurRad="101600" dist="38100" dir="5400000">
              <a:srgbClr val="1B2A3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5148072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" y="5301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505663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y olvidos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783080" y="542239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carga manual y la falta de seguimiento generan errores humanos evitables.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FileCenterDP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solución: FileCenterDP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6492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propia que centraliza la carga de solicitudes, genera automáticamente los archivos que necesita el sistema comercial, y deja registro de todo el proceso.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589520" y="1234440"/>
            <a:ext cx="1737360" cy="1737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6486" y="1651406"/>
            <a:ext cx="903427" cy="90342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320040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EAF2F6"/>
          </a:solidFill>
          <a:ln/>
          <a:effectLst>
            <a:outerShdw sx="100000" sy="100000" kx="0" ky="0" algn="bl" rotWithShape="0" blurRad="101600" dist="38100" dir="5400000">
              <a:srgbClr val="1B2A3A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3429000"/>
            <a:ext cx="3515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77240" y="434340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solicitud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cubiertos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38218" y="320040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EAF2F6"/>
          </a:solidFill>
          <a:ln/>
          <a:effectLst>
            <a:outerShdw sx="100000" sy="100000" kx="0" ky="0" algn="bl" rotWithShape="0" blurRad="101600" dist="38100" dir="5400000">
              <a:srgbClr val="1B2A3A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338218" y="3429000"/>
            <a:ext cx="3515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4566818" y="434340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en vez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WhatsApp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127797" y="320040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EAF2F6"/>
          </a:solidFill>
          <a:ln/>
          <a:effectLst>
            <a:outerShdw sx="100000" sy="100000" kx="0" ky="0" algn="bl" rotWithShape="0" blurRad="101600" dist="38100" dir="5400000">
              <a:srgbClr val="1B2A3A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127797" y="3429000"/>
            <a:ext cx="3515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8356397" y="434340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trazable, con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completo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FileCenterDP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396414" cy="3566160"/>
          </a:xfrm>
          <a:prstGeom prst="roundRect">
            <a:avLst>
              <a:gd name="adj" fmla="val 4579"/>
            </a:avLst>
          </a:prstGeom>
          <a:solidFill>
            <a:srgbClr val="EAF2F6"/>
          </a:solidFill>
          <a:ln/>
          <a:effectLst>
            <a:outerShdw sx="100000" sy="100000" kx="0" ky="0" algn="bl" rotWithShape="0" blurRad="101600" dist="38100" dir="5400000">
              <a:srgbClr val="1B2A3A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43927" y="23317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329" y="257312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520440"/>
            <a:ext cx="21220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El analista carga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4160520"/>
            <a:ext cx="203065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la plantilla, elige comitente y prioridad.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054" y="3630168"/>
            <a:ext cx="329184" cy="32918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47974" y="2011680"/>
            <a:ext cx="2396414" cy="3566160"/>
          </a:xfrm>
          <a:prstGeom prst="roundRect">
            <a:avLst>
              <a:gd name="adj" fmla="val 4579"/>
            </a:avLst>
          </a:prstGeom>
          <a:solidFill>
            <a:srgbClr val="DCEAF1"/>
          </a:solidFill>
          <a:ln/>
          <a:effectLst>
            <a:outerShdw sx="100000" sy="100000" kx="0" ky="0" algn="bl" rotWithShape="0" blurRad="101600" dist="38100" dir="5400000">
              <a:srgbClr val="1B2A3A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143261" y="233172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662" y="2573122"/>
            <a:ext cx="523037" cy="52303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85134" y="3520440"/>
            <a:ext cx="21220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El sistema valida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3630854" y="4160520"/>
            <a:ext cx="203065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los datos y arma los archivos automáticamente.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4388" y="3630168"/>
            <a:ext cx="329184" cy="32918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347308" y="2011680"/>
            <a:ext cx="2396414" cy="3566160"/>
          </a:xfrm>
          <a:prstGeom prst="roundRect">
            <a:avLst>
              <a:gd name="adj" fmla="val 4579"/>
            </a:avLst>
          </a:prstGeom>
          <a:solidFill>
            <a:srgbClr val="EAF2F6"/>
          </a:solidFill>
          <a:ln/>
          <a:effectLst>
            <a:outerShdw sx="100000" sy="100000" kx="0" ky="0" algn="bl" rotWithShape="0" blurRad="101600" dist="38100" dir="5400000">
              <a:srgbClr val="1B2A3A">
                <a:alpha val="12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7042595" y="23317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3996" y="2573122"/>
            <a:ext cx="523037" cy="52303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484468" y="3520440"/>
            <a:ext cx="21220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El asistente descarga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6530188" y="4160520"/>
            <a:ext cx="203065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click genera los archivos listos para cargar.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3721" y="3630168"/>
            <a:ext cx="329184" cy="329184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9246641" y="2011680"/>
            <a:ext cx="2396414" cy="3566160"/>
          </a:xfrm>
          <a:prstGeom prst="roundRect">
            <a:avLst>
              <a:gd name="adj" fmla="val 4579"/>
            </a:avLst>
          </a:prstGeom>
          <a:solidFill>
            <a:srgbClr val="DCEAF1"/>
          </a:solidFill>
          <a:ln/>
          <a:effectLst>
            <a:outerShdw sx="100000" sy="100000" kx="0" ky="0" algn="bl" rotWithShape="0" blurRad="101600" dist="38100" dir="5400000">
              <a:srgbClr val="1B2A3A">
                <a:alpha val="12000"/>
              </a:srgbClr>
            </a:outerShdw>
          </a:effectLst>
        </p:spPr>
      </p:sp>
      <p:sp>
        <p:nvSpPr>
          <p:cNvPr id="22" name="Shape 14"/>
          <p:cNvSpPr/>
          <p:nvPr/>
        </p:nvSpPr>
        <p:spPr>
          <a:xfrm>
            <a:off x="9941928" y="233172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3330" y="2573122"/>
            <a:ext cx="523037" cy="523037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383801" y="3520440"/>
            <a:ext cx="21220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Queda registrado</a:t>
            </a:r>
            <a:endParaRPr lang="en-US" sz="1500" dirty="0"/>
          </a:p>
        </p:txBody>
      </p:sp>
      <p:sp>
        <p:nvSpPr>
          <p:cNvPr id="25" name="Text 16"/>
          <p:cNvSpPr/>
          <p:nvPr/>
        </p:nvSpPr>
        <p:spPr>
          <a:xfrm>
            <a:off x="9429521" y="4160520"/>
            <a:ext cx="203065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y fecha se actualizan y pasan al historial.</a:t>
            </a:r>
            <a:endParaRPr lang="en-US" sz="1200" dirty="0"/>
          </a:p>
        </p:txBody>
      </p:sp>
      <p:sp>
        <p:nvSpPr>
          <p:cNvPr id="26" name="Text 17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FileCenterDP</a:t>
            </a:r>
            <a:endParaRPr lang="en-US" sz="1000" dirty="0"/>
          </a:p>
        </p:txBody>
      </p:sp>
      <p:sp>
        <p:nvSpPr>
          <p:cNvPr id="27" name="Text 18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4 tipos de solicitud que cubre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64328" cy="1874520"/>
          </a:xfrm>
          <a:prstGeom prst="roundRect">
            <a:avLst>
              <a:gd name="adj" fmla="val 5854"/>
            </a:avLst>
          </a:prstGeom>
          <a:solidFill>
            <a:srgbClr val="EAF2F6"/>
          </a:solidFill>
          <a:ln/>
          <a:effectLst>
            <a:outerShdw sx="100000" sy="100000" kx="0" ky="0" algn="bl" rotWithShape="0" blurRad="101600" dist="38100" dir="5400000">
              <a:srgbClr val="1B2A3A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9164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187817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627632"/>
            <a:ext cx="390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ODC — Orden de Compra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783080" y="2121408"/>
            <a:ext cx="3901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de compra a comitentes, con cálculo automático de presupuesto (PMC).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78728" y="1371600"/>
            <a:ext cx="5364328" cy="1874520"/>
          </a:xfrm>
          <a:prstGeom prst="roundRect">
            <a:avLst>
              <a:gd name="adj" fmla="val 5854"/>
            </a:avLst>
          </a:prstGeom>
          <a:solidFill>
            <a:srgbClr val="EAF2F6"/>
          </a:solidFill>
          <a:ln/>
          <a:effectLst>
            <a:outerShdw sx="100000" sy="100000" kx="0" ky="0" algn="bl" rotWithShape="0" blurRad="101600" dist="38100" dir="5400000">
              <a:srgbClr val="1B2A3A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53048" y="16916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585" y="1878178"/>
            <a:ext cx="404165" cy="4041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13168" y="1627632"/>
            <a:ext cx="390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ODR — Orden de Reposición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513168" y="2121408"/>
            <a:ext cx="3901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de reposición para productos en consigna.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566160"/>
            <a:ext cx="5364328" cy="1874520"/>
          </a:xfrm>
          <a:prstGeom prst="roundRect">
            <a:avLst>
              <a:gd name="adj" fmla="val 5854"/>
            </a:avLst>
          </a:prstGeom>
          <a:solidFill>
            <a:srgbClr val="EAF2F6"/>
          </a:solidFill>
          <a:ln/>
          <a:effectLst>
            <a:outerShdw sx="100000" sy="100000" kx="0" ky="0" algn="bl" rotWithShape="0" blurRad="101600" dist="38100" dir="5400000">
              <a:srgbClr val="1B2A3A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2960" y="38862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4072738"/>
            <a:ext cx="404165" cy="40416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3822192"/>
            <a:ext cx="390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CDP — Cambio de Precio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783080" y="4315968"/>
            <a:ext cx="3901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de precio de venta y costo por SKU.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78728" y="3566160"/>
            <a:ext cx="5364328" cy="1874520"/>
          </a:xfrm>
          <a:prstGeom prst="roundRect">
            <a:avLst>
              <a:gd name="adj" fmla="val 5854"/>
            </a:avLst>
          </a:prstGeom>
          <a:solidFill>
            <a:srgbClr val="EAF2F6"/>
          </a:solidFill>
          <a:ln/>
          <a:effectLst>
            <a:outerShdw sx="100000" sy="100000" kx="0" ky="0" algn="bl" rotWithShape="0" blurRad="101600" dist="38100" dir="5400000">
              <a:srgbClr val="1B2A3A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53048" y="388620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585" y="4072738"/>
            <a:ext cx="404165" cy="40416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13168" y="3822192"/>
            <a:ext cx="390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FDP — Ficha de Producto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513168" y="4315968"/>
            <a:ext cx="3901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de producto para la carga en la web.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FileCenterDP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ya está construido y probado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local funcionando de punta a punta, con datos y archivos reales de la operación.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874520"/>
            <a:ext cx="10271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los 4 tipos de solicitud, con validación automática de datos obligatorios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97480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2651760"/>
            <a:ext cx="10271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automática y exacta de los archivos que pide el sistema comercial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74720"/>
            <a:ext cx="384048" cy="3840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34440" y="3429000"/>
            <a:ext cx="10271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con roles: Analista, Asistente y Administrador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251960"/>
            <a:ext cx="384048" cy="38404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34440" y="4206240"/>
            <a:ext cx="10271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filtros, indicadores y trazabilidad completa de cada solicitud</a:t>
            </a:r>
            <a:endParaRPr lang="en-US" sz="15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029200"/>
            <a:ext cx="384048" cy="38404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234440" y="4983480"/>
            <a:ext cx="10271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Probado de punta a punta con archivos reales de la operación diaria</a:t>
            </a:r>
            <a:endParaRPr lang="en-US" sz="1500" dirty="0"/>
          </a:p>
        </p:txBody>
      </p:sp>
      <p:sp>
        <p:nvSpPr>
          <p:cNvPr id="14" name="Text 7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FileCenterDP</a:t>
            </a:r>
            <a:endParaRPr lang="en-US" sz="1000" dirty="0"/>
          </a:p>
        </p:txBody>
      </p:sp>
      <p:sp>
        <p:nvSpPr>
          <p:cNvPr id="15" name="Text 8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el seguimiento en un solo lugar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tipo, comitente, rubro, prioridad y estado. Indicadores permanentes. Historial completo de cada solicitud: quién la cargó, cuándo se emitió y con qué referencia.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567864" cy="2651760"/>
          </a:xfrm>
          <a:prstGeom prst="roundRect">
            <a:avLst>
              <a:gd name="adj" fmla="val 4273"/>
            </a:avLst>
          </a:prstGeom>
          <a:solidFill>
            <a:srgbClr val="EAF2F6"/>
          </a:solidFill>
          <a:ln/>
          <a:effectLst>
            <a:outerShdw sx="100000" sy="100000" kx="0" ky="0" algn="bl" rotWithShape="0" blurRad="101600" dist="38100" dir="5400000">
              <a:srgbClr val="1B2A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5372" y="265176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4828" y="287121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703320"/>
            <a:ext cx="2293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Pendientes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4114800"/>
            <a:ext cx="2202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Recién cargadas, esperando descarga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90824" y="2377440"/>
            <a:ext cx="2567864" cy="2651760"/>
          </a:xfrm>
          <a:prstGeom prst="roundRect">
            <a:avLst>
              <a:gd name="adj" fmla="val 4273"/>
            </a:avLst>
          </a:prstGeom>
          <a:solidFill>
            <a:srgbClr val="EAF2F6"/>
          </a:solidFill>
          <a:ln/>
          <a:effectLst>
            <a:outerShdw sx="100000" sy="100000" kx="0" ky="0" algn="bl" rotWithShape="0" blurRad="101600" dist="38100" dir="5400000">
              <a:srgbClr val="1B2A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17556" y="265176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012" y="287121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7984" y="3703320"/>
            <a:ext cx="2293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Emitidas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73704" y="4114800"/>
            <a:ext cx="2202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ODC / ODR ya generadas y confirmadas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33008" y="2377440"/>
            <a:ext cx="2567864" cy="2651760"/>
          </a:xfrm>
          <a:prstGeom prst="roundRect">
            <a:avLst>
              <a:gd name="adj" fmla="val 4273"/>
            </a:avLst>
          </a:prstGeom>
          <a:solidFill>
            <a:srgbClr val="EAF2F6"/>
          </a:solidFill>
          <a:ln/>
          <a:effectLst>
            <a:outerShdw sx="100000" sy="100000" kx="0" ky="0" algn="bl" rotWithShape="0" blurRad="101600" dist="38100" dir="5400000">
              <a:srgbClr val="1B2A3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59740" y="265176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9196" y="2871216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70168" y="3703320"/>
            <a:ext cx="2293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Aplicadas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15888" y="4114800"/>
            <a:ext cx="2202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CDP / FDP ya aplicadas en el sistema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75191" y="2377440"/>
            <a:ext cx="2567864" cy="2651760"/>
          </a:xfrm>
          <a:prstGeom prst="roundRect">
            <a:avLst>
              <a:gd name="adj" fmla="val 4273"/>
            </a:avLst>
          </a:prstGeom>
          <a:solidFill>
            <a:srgbClr val="EAF2F6"/>
          </a:solidFill>
          <a:ln/>
          <a:effectLst>
            <a:outerShdw sx="100000" sy="100000" kx="0" ky="0" algn="bl" rotWithShape="0" blurRad="101600" dist="38100" dir="5400000">
              <a:srgbClr val="1B2A3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01923" y="265176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1379" y="2871216"/>
            <a:ext cx="475488" cy="4754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12351" y="3703320"/>
            <a:ext cx="2293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258071" y="4114800"/>
            <a:ext cx="2202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 por tipo, comitente y prioridad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FileCenterDP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 frente al proceso actual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64328" cy="4663440"/>
          </a:xfrm>
          <a:prstGeom prst="roundRect">
            <a:avLst>
              <a:gd name="adj" fmla="val 2353"/>
            </a:avLst>
          </a:prstGeom>
          <a:solidFill>
            <a:srgbClr val="EBEDEF"/>
          </a:solidFill>
          <a:ln/>
          <a:effectLst>
            <a:outerShdw sx="100000" sy="100000" kx="0" ky="0" algn="bl" rotWithShape="0" blurRad="101600" dist="38100" dir="5400000">
              <a:srgbClr val="1B2A3A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45920"/>
            <a:ext cx="444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(WhatsApp)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68680" y="233172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88720" y="2331720"/>
            <a:ext cx="467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registro centralizado de las solicitudes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310896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3108960"/>
            <a:ext cx="467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perder el hilo de un pedido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388620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88720" y="3886200"/>
            <a:ext cx="467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de tipeo y de formato de archivo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68680" y="466344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88720" y="4663440"/>
            <a:ext cx="467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 de quién hizo qué y cuándo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78728" y="1371600"/>
            <a:ext cx="5364328" cy="4663440"/>
          </a:xfrm>
          <a:prstGeom prst="roundRect">
            <a:avLst>
              <a:gd name="adj" fmla="val 2353"/>
            </a:avLst>
          </a:prstGeom>
          <a:solidFill>
            <a:srgbClr val="EAF2F6"/>
          </a:solidFill>
          <a:ln/>
          <a:effectLst>
            <a:outerShdw sx="100000" sy="100000" kx="0" ky="0" algn="bl" rotWithShape="0" blurRad="101600" dist="38100" dir="5400000">
              <a:srgbClr val="1B2A3A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048" y="160020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47408" y="1645920"/>
            <a:ext cx="444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FileCenterDP</a:t>
            </a:r>
            <a:endParaRPr lang="en-US" sz="18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768" y="235915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55968" y="2331720"/>
            <a:ext cx="426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solicitudes en un solo lugar</a:t>
            </a:r>
            <a:endParaRPr lang="en-US" sz="13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768" y="3136392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55968" y="3108960"/>
            <a:ext cx="426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siempre visible en el dashboard</a:t>
            </a:r>
            <a:endParaRPr lang="en-US" sz="13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8768" y="3913632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55968" y="3886200"/>
            <a:ext cx="426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generados automáticamente, sin errores de formato</a:t>
            </a:r>
            <a:endParaRPr lang="en-US" sz="13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8768" y="4690872"/>
            <a:ext cx="292608" cy="29260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055968" y="4663440"/>
            <a:ext cx="426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completo de cada solicitud, de punta a punta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FileCenterDP</a:t>
            </a:r>
            <a:endParaRPr lang="en-US" sz="1000" dirty="0"/>
          </a:p>
        </p:txBody>
      </p:sp>
      <p:sp>
        <p:nvSpPr>
          <p:cNvPr id="26" name="Text 18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454298" cy="3383280"/>
          </a:xfrm>
          <a:prstGeom prst="roundRect">
            <a:avLst>
              <a:gd name="adj" fmla="val 3243"/>
            </a:avLst>
          </a:prstGeom>
          <a:solidFill>
            <a:srgbClr val="EAF2F6"/>
          </a:solidFill>
          <a:ln/>
          <a:effectLst>
            <a:outerShdw sx="100000" sy="100000" kx="0" ky="0" algn="bl" rotWithShape="0" blurRad="101600" dist="38100" dir="5400000">
              <a:srgbClr val="1B2A3A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951378" y="20574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8889" y="22549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926080"/>
            <a:ext cx="2997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Puesta en marcha con el equipo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77240" y="3749040"/>
            <a:ext cx="29970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breve a analistas y asistentes, y una primera semana de uso real.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68698" y="1828800"/>
            <a:ext cx="3454298" cy="3383280"/>
          </a:xfrm>
          <a:prstGeom prst="roundRect">
            <a:avLst>
              <a:gd name="adj" fmla="val 3243"/>
            </a:avLst>
          </a:prstGeom>
          <a:solidFill>
            <a:srgbClr val="DCEAF1"/>
          </a:solidFill>
          <a:ln/>
          <a:effectLst>
            <a:outerShdw sx="100000" sy="100000" kx="0" ky="0" algn="bl" rotWithShape="0" blurRad="101600" dist="38100" dir="5400000">
              <a:srgbClr val="1B2A3A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97298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6771437" y="20574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947" y="225491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7298" y="2926080"/>
            <a:ext cx="2997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Despliegue compartido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597298" y="3749040"/>
            <a:ext cx="29970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Llevar la plataforma a un entorno al que pueda acceder todo el equipo.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88757" y="1828800"/>
            <a:ext cx="3454298" cy="3383280"/>
          </a:xfrm>
          <a:prstGeom prst="roundRect">
            <a:avLst>
              <a:gd name="adj" fmla="val 3243"/>
            </a:avLst>
          </a:prstGeom>
          <a:solidFill>
            <a:srgbClr val="EAF2F6"/>
          </a:solidFill>
          <a:ln/>
          <a:effectLst>
            <a:outerShdw sx="100000" sy="100000" kx="0" ky="0" algn="bl" rotWithShape="0" blurRad="101600" dist="38100" dir="5400000">
              <a:srgbClr val="1B2A3A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8417357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Shape 13"/>
          <p:cNvSpPr/>
          <p:nvPr/>
        </p:nvSpPr>
        <p:spPr>
          <a:xfrm>
            <a:off x="10591495" y="20574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006" y="2254910"/>
            <a:ext cx="427939" cy="42793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7357" y="2926080"/>
            <a:ext cx="2997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Mejoras continuas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417357" y="3749040"/>
            <a:ext cx="29970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y nuevas funcionalidades a partir del feedback del uso diario.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FileCenterDP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3566160"/>
            <a:ext cx="2194560" cy="2194560"/>
          </a:xfrm>
          <a:prstGeom prst="ellipse">
            <a:avLst/>
          </a:prstGeom>
          <a:solidFill>
            <a:srgbClr val="2B3A7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7910" y="4092854"/>
            <a:ext cx="1141171" cy="11411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6517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822960" y="3566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FileCenterDP — Asistencia Comercial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22960" y="4023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Pablo Bascaran · Santiago Moreno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2026-08-25T01:33:36Z</dcterms:created>
  <dcterms:modified xsi:type="dcterms:W3CDTF">2026-08-25T01:33:36Z</dcterms:modified>
</cp:coreProperties>
</file>